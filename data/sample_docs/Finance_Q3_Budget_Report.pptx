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>
                <a:solidFill>
                  <a:srgbClr val="BFD3E8"/>
                </a:solidFill>
              </a:rPr>
              <a:t>TITLE: Q3 FY2026 Departmental Budget Report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ORGANIZATION: Northwind Analytics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DEPARTMENT: Finance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SENSITIVITY: Confidential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VERSION: 1.1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EFFECTIVE_DATE: 2026-10-05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"/>
            <a:ext cx="2011680" cy="400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91640"/>
            <a:ext cx="813816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Q3 FY2026 Departmental Budget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813816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200">
                <a:solidFill>
                  <a:srgbClr val="BFD3E8"/>
                </a:solidFill>
              </a:rPr>
              <a:t>Finance   |   Confidential   |   v1.1   |   2026-10-05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1. Executive Summary —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F4F7FA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wrap="square"/>
          <a:lstStyle/>
          <a:p>
            <a:pPr algn="l"/>
            <a:r>
              <a:rPr sz="1000">
                <a:solidFill>
                  <a:srgbClr val="666666"/>
                </a:solidFill>
              </a:rPr>
              <a:t>Total Actual Spend</a:t>
            </a:r>
          </a:p>
          <a:p>
            <a:pPr algn="l"/>
            <a:r>
              <a:rPr sz="2200" b="1">
                <a:solidFill>
                  <a:srgbClr val="1F4E79"/>
                </a:solidFill>
              </a:rPr>
              <a:t>$4.2M</a:t>
            </a:r>
          </a:p>
          <a:p>
            <a:pPr algn="l"/>
            <a:r>
              <a:rPr sz="950">
                <a:solidFill>
                  <a:srgbClr val="0F6E56"/>
                </a:solidFill>
              </a:rPr>
              <a:t>vs. $4.5M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6120" y="1097280"/>
            <a:ext cx="2651760" cy="1188720"/>
          </a:xfrm>
          <a:prstGeom prst="rect">
            <a:avLst/>
          </a:prstGeom>
          <a:solidFill>
            <a:srgbClr val="F4F7FA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wrap="square"/>
          <a:lstStyle/>
          <a:p>
            <a:pPr algn="l"/>
            <a:r>
              <a:rPr sz="1000">
                <a:solidFill>
                  <a:srgbClr val="666666"/>
                </a:solidFill>
              </a:rPr>
              <a:t>Overall Variance</a:t>
            </a:r>
          </a:p>
          <a:p>
            <a:pPr algn="l"/>
            <a:r>
              <a:rPr sz="2200" b="1">
                <a:solidFill>
                  <a:srgbClr val="1F4E79"/>
                </a:solidFill>
              </a:rPr>
              <a:t>6.7%</a:t>
            </a:r>
          </a:p>
          <a:p>
            <a:pPr algn="l"/>
            <a:r>
              <a:rPr sz="950">
                <a:solidFill>
                  <a:srgbClr val="0F6E56"/>
                </a:solidFill>
              </a:rPr>
              <a:t>Favorable (under budget)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097280"/>
            <a:ext cx="2651760" cy="1188720"/>
          </a:xfrm>
          <a:prstGeom prst="rect">
            <a:avLst/>
          </a:prstGeom>
          <a:solidFill>
            <a:srgbClr val="F4F7FA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wrap="square"/>
          <a:lstStyle/>
          <a:p>
            <a:pPr algn="l"/>
            <a:r>
              <a:rPr sz="1000">
                <a:solidFill>
                  <a:srgbClr val="666666"/>
                </a:solidFill>
              </a:rPr>
              <a:t>Departments Over Budget</a:t>
            </a:r>
          </a:p>
          <a:p>
            <a:pPr algn="l"/>
            <a:r>
              <a:rPr sz="2200" b="1">
                <a:solidFill>
                  <a:srgbClr val="1F4E79"/>
                </a:solidFill>
              </a:rPr>
              <a:t>1 of 4</a:t>
            </a:r>
          </a:p>
          <a:p>
            <a:pPr algn="l"/>
            <a:r>
              <a:rPr sz="950">
                <a:solidFill>
                  <a:srgbClr val="0F6E56"/>
                </a:solidFill>
              </a:rPr>
              <a:t>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93776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Total spend for Q3 FY2026 was $4.2M against a budget of $4.5M, resulting in a 6.7% favorable variance.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The variance was primarily driven by delayed hiring in Engineering (3 open headcount unfilled) and lower than expected marketing spend on the Q3 campaign.</a:t>
            </a:r>
          </a:p>
        </p:txBody>
      </p:sp>
      <p:pic>
        <p:nvPicPr>
          <p:cNvPr id="4" name="Picture 3" descr="quarter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88720"/>
            <a:ext cx="3108960" cy="16410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4206240"/>
            <a:ext cx="31089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i="1">
                <a:solidFill>
                  <a:srgbClr val="888888"/>
                </a:solidFill>
              </a:rPr>
              <a:t>Spend has grown steadily quarter over quarter, tracking under budget throughout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2. Department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38912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Variance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$1.8M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$2.0M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10% under (hiring delay)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Sales &amp; Marketing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$1.1M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$1.2M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8% under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$0.7M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$0.65M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8% over (facilities maintenance overrun)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G&amp;A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$0.6M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$0.65M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8% under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Actual vs. Budget by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93776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Engineering shows the largest favorable variance, driven by the hiring delay discussed in the Key Risks section.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Operations is the only department over budget this quarter, tied to an unplanned facilities maintenance cost.</a:t>
            </a:r>
          </a:p>
        </p:txBody>
      </p:sp>
      <p:pic>
        <p:nvPicPr>
          <p:cNvPr id="4" name="Picture 3" descr="actual_vs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88720"/>
            <a:ext cx="3108960" cy="17109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4206240"/>
            <a:ext cx="31089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i="1">
                <a:solidFill>
                  <a:srgbClr val="888888"/>
                </a:solidFill>
              </a:rPr>
              <a:t>Actual vs. budget spend, all four departments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Variance by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93776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A closer look at variance as a percentage of budget, by department.</a:t>
            </a:r>
          </a:p>
        </p:txBody>
      </p:sp>
      <p:pic>
        <p:nvPicPr>
          <p:cNvPr id="4" name="Picture 3" descr="variance_by_d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88720"/>
            <a:ext cx="3108960" cy="1536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4206240"/>
            <a:ext cx="31089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i="1">
                <a:solidFill>
                  <a:srgbClr val="888888"/>
                </a:solidFill>
              </a:rPr>
              <a:t>Negative = under budget (favorable); positive = over budget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Budget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93776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Engineering and Sales &amp; Marketing together account for 71% of total departmental budget this quarter.</a:t>
            </a:r>
          </a:p>
        </p:txBody>
      </p:sp>
      <p:pic>
        <p:nvPicPr>
          <p:cNvPr id="4" name="Picture 3" descr="budget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88720"/>
            <a:ext cx="3108960" cy="28436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4206240"/>
            <a:ext cx="31089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i="1">
                <a:solidFill>
                  <a:srgbClr val="888888"/>
                </a:solidFill>
              </a:rPr>
              <a:t>Share of total Q3 FY2026 budget by department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3. Key Risks for Q4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Operations overspend trend, if continued, could result in a full-year overrun of approximately $180K; Operations has been asked to submit a cost-containment plan by end of October.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Engineering hiring delay may catch up in Q4, potentially causing a budget overshoot if all 3 open roles are filled simultaneously.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4.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Reallocate $150K of the Q3 favorable variance from Engineering to Operations to cover the facilities overrun, pending CFO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5.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Northwind Analytics FP&amp;A Team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finance-fpa@company.com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This departmental budget report is prepared as part of the Q3 FY2026 reporting cycle; see Q3_FY2026_Financial_Report.pdf for the full consolidated financial statements.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